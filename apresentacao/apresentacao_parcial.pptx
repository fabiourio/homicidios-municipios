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8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notesMaster" Target="notesMasters/notesMaster1.xml"/>
<Relationship Id="rId10" Type="http://schemas.openxmlformats.org/officeDocument/2006/relationships/slide" Target="slides/slide2.xml"/>
<Relationship Id="rId11" Type="http://schemas.openxmlformats.org/officeDocument/2006/relationships/slide" Target="slides/slide3.xml"/>
<Relationship Id="rId12" Type="http://schemas.openxmlformats.org/officeDocument/2006/relationships/slide" Target="slides/slide4.xml"/>
<Relationship Id="rId13" Type="http://schemas.openxmlformats.org/officeDocument/2006/relationships/slide" Target="slides/slide5.xml"/>
<Relationship Id="rId14" Type="http://schemas.openxmlformats.org/officeDocument/2006/relationships/slide" Target="slides/slide6.xml"/>
<Relationship Id="rId15" Type="http://schemas.openxmlformats.org/officeDocument/2006/relationships/slide" Target="slides/slide7.xml"/>
<Relationship Id="rId16" Type="http://schemas.openxmlformats.org/officeDocument/2006/relationships/slide" Target="slides/slide8.xml"/>
<Relationship Id="rId17" Type="http://schemas.openxmlformats.org/officeDocument/2006/relationships/slide" Target="slides/slide9.xml"/>
<Relationship Id="rId18" Type="http://schemas.openxmlformats.org/officeDocument/2006/relationships/slide" Target="slides/slide10.xml"/>
<Relationship Id="rId19" Type="http://schemas.openxmlformats.org/officeDocument/2006/relationships/slide" Target="slides/slide11.xml"/>
<Relationship Id="rId20" Type="http://schemas.openxmlformats.org/officeDocument/2006/relationships/slide" Target="slides/slide12.xml"/>
<Relationship Id="rId21" Type="http://schemas.openxmlformats.org/officeDocument/2006/relationships/slide" Target="slides/slide13.xml"/>
<Relationship Id="rId22" Type="http://schemas.openxmlformats.org/officeDocument/2006/relationships/slide" Target="slides/slide14.xml"/>
<Relationship Id="rId23" Type="http://schemas.openxmlformats.org/officeDocument/2006/relationships/slide" Target="slides/slide15.xml"/>
<Relationship Id="rId24" Type="http://schemas.openxmlformats.org/officeDocument/2006/relationships/slide" Target="slides/slide16.xml"/>
<Relationship Id="rId25" Type="http://schemas.openxmlformats.org/officeDocument/2006/relationships/slide" Target="slides/slide17.xml"/>
<Relationship Id="rId26" Type="http://schemas.openxmlformats.org/officeDocument/2006/relationships/slide" Target="slides/slide18.xml"/>
<Relationship Id="rId27" Type="http://schemas.openxmlformats.org/officeDocument/2006/relationships/slide" Target="slides/slide19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_rels/notesSlide3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3.xml"/>
</Relationships>

</file>

<file path=ppt/notesSlides/_rels/notesSlide4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4.xml"/>
</Relationships>

</file>

<file path=ppt/notesSlides/_rels/notesSlide5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5.xml"/>
</Relationships>

</file>

<file path=ppt/notesSlides/_rels/notesSlide6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6.xml"/>
</Relationships>

</file>

<file path=ppt/notesSlides/_rels/notesSlide7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7.xml"/>
</Relationships>

</file>

<file path=ppt/notesSlides/_rels/notesSlide8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8.xml"/>
</Relationships>

</file>

<file path=ppt/notesSlides/_rels/notesSlide9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9.xml"/>
</Relationships>

</file>

<file path=ppt/notesSlides/_rels/notesSlide10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0.xml"/>
</Relationships>

</file>

<file path=ppt/notesSlides/_rels/notesSlide1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1.xml"/>
</Relationships>

</file>

<file path=ppt/notesSlides/_rels/notesSlide1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2.xml"/>
</Relationships>

</file>

<file path=ppt/notesSlides/_rels/notesSlide13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3.xml"/>
</Relationships>

</file>

<file path=ppt/notesSlides/_rels/notesSlide14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4.xml"/>
</Relationships>

</file>

<file path=ppt/notesSlides/_rels/notesSlide15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5.xml"/>
</Relationships>

</file>

<file path=ppt/notesSlides/_rels/notesSlide16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6.xml"/>
</Relationships>

</file>

<file path=ppt/notesSlides/_rels/notesSlide17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7.xml"/>
</Relationships>

</file>

<file path=ppt/notesSlides/_rels/notesSlide18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8.xml"/>
</Relationships>

</file>

<file path=ppt/notesSlides/_rels/notesSlide19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9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Apresentar o grupo e o tema, ligado ao ODS 16 (indicador 16.1.1: taxa de vítimas de homicídio por 100 mil habitantes).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Seguimos os 5 pontos pedidos na entrega. Logo depois da pergunta, explicamos as limitações dos dados e o escopo que elas nos levaram a definir.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Queremos entender o que está associado à violência letal nos municípios: 5.570 municípios, 138.316 homicídios em 2021–2023, 22,7 por 100 mil habitantes por ano. Comparamos renda, desigualdade, trabalho, educação, urbanização e demografia com fatores de contexto (estado, Amazônia Legal, fronteira).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É um estudo observacional: mostra associação, não causa. Usamos homicídios registrados: onde muitas mortes ficam como 'intenção indeterminada', parte dos homicídios fica escondida. O Censo conta os presos como moradores do município do presídio. E, nos municípios pequenos, o homicídio é raro: poucos casos e muitos zeros (655 municípios sem nenhum homicídio) fazem a taxa oscilar por acaso.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[Kauan] Abaixo de 5 mil habitantes a mediana é 1 homicídio em 3 anos e a taxa oscila ±66% só pelo acaso; a taxa de 2024 quase não repete a de 2021–23 (correlação 0,26, contra 0,89 nos maiores). Por isso toda a análise usa os municípios com 20 mil habitantes ou mais (apostila, cap. 1: escopo do modelo): 1.710 municípios, 84% da população, nenhum com taxa zero.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[Fabio] Resposta: SIM/DATASUS, registro oficial de óbitos do Ministério da Saúde: óbitos por agressão (CID-10 X85–Y09) e intervenção legal (Y35–Y36), por município de residência, somados de 2021 a 2023 e divididos por 3 vezes a população. Explicativas: Censo 2022, pela API do SIDRA (inclui frequência escolar e migração), e INEP 2022 (Censo Escolar: abandono e distorção idade-série no ensino médio). As bases se ligam pelo código IBGE do município.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[Fabio] A resposta é quantitativa contínua. Distorção idade-série: % de alunos do ensino médio com 2 anos ou mais de atraso. Migração recente: % de moradores há menos de 10 anos no município. Amazônia Legal: região definida em lei (9 estados). Faixa de fronteira: 150 km ao longo da fronteira terrestre. Estado entra como 26 indicadoras, com SP como referência.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Daqui em diante, só os 1.710 municípios do escopo. A taxa tem média 25,0 e mediana 20,5, com cauda longa à direita (assimetria 1,36). No log a distribuição fica quase simétrica (−0,49).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Nordeste 39,3 por 100 mil; Sudeste 13,2. Na Amazônia Legal a mediana é 30,1, contra 18,0 no resto. Em cinza, os municípios fora do escopo.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[Douglas] A maior correlação com o log da taxa é a de % preta/parda (0,56). Renda, % pobres e alfabetização têm correlação entre si de até 0,92: medem quase a mesma coisa, alerta de multicolinearidade. Nenhuma variável sozinha basta: precisamos de um modelo múltiplo.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[Luiz Felipe] Cada caixa é um décimo dos municípios por renda. Nos dados, a taxa é maior nos décimos de renda média (pico perto de R$ 803) e cai nos dois extremos: isso pede um termo de renda ao quadrado (modelo polinomial de 2a ordem).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[Luiz Felipe] Box-Cox no modelo múltiplo: lambda 0,18 (IC 95% de 0,14 a 0,22). A apostila recomenda um valor de fácil interpretação: adotamos o logaritmo (lambda = 0). A normalidade dos resíduos melhora (W de 0,92 para 0,98).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[Luiz Felipe] Entramos com as variáveis em blocos e testamos cada um pelo F parcial (somas de quadrados extras). O bloco de educação e migração entra com F parcial 46,9 (R² ajustado de 0,39 para 0,44). Usar o estado no lugar da região melhora o modelo (R² ajustado de 0,51 para 0,59; F parcial do estado além da região 15,9) e resolve a correlação entre vizinhos (Durbin-Watson de 1,71 para 2,01). Renda, % pobres e alfabetização juntas: VIF da renda 27, com sinais contraditórios; ficamos só com a renda, centralizada antes do quadrado.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F global 62 com 40 e 1.669 gl; R² ajustado 0,59. Como a resposta é ln(taxa), cada efeito é a variação percentual da taxa para a mudança indicada, com as outras variáveis constantes. As não significativas ficam à direita, em cinza. Mais jovens de 15 a 17 na escola, menos homicídios; mais abandono, atraso escolar e migração recente, mais homicídios. % intenção indeterminada mede subnotificação, não risco; desocupação vem da amostra do Censo e deve ser lida com cautela.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Curva prevista pelo modelo, com as outras variáveis na média: a taxa esperada é máxima com renda per capita de cerca de R$ 1.065. O pico é diferente do gráfico da exploratória porque aqui as outras variáveis estão controladas. A faixa é o intervalo de confiança de 95% da resposta esperada.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Análise dos resíduos como na apostila. Durbin-Watson = 2,01 (p = 0,66): com o estado no modelo, resíduos de municípios vizinhos deixam de se parecer. Breusch-Pagan = 110: a variância não é constante, então os valores p são aproximados. Normalidade razoável (W = 0,98). 1 outliers, mantidos porque não são erro de dado.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Seleção de variáveis pelo cap. 8 da apostila (Cp, AIC, BIC, PRESS); decidir as não significativas (fronteira, densidade, % homens 15–29) e as frágeis (% indeterminada, desocupação); tratar a variância não constante; testar frequência escolar de 15–17 anos e garimpo de ouro.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[Willian] Agradecer e abrir para perguntas.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Tabela para perguntas. Coeficientes na escala de ln(taxa): 100 × b é a variação percentual aproximada da taxa.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0c70ef1c25554495f157a1894104909acaa73047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2.xml"/>
<Relationship Id="rId3" Type="http://schemas.openxmlformats.org/officeDocument/2006/relationships/image" Target="../media/3a08c3695c84eb71882245439f1ffd1a440c1c14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3.xml"/>
<Relationship Id="rId3" Type="http://schemas.openxmlformats.org/officeDocument/2006/relationships/image" Target="../media/0da3ec0cab3f8d01595ec29162394e5e0ac6573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4.xml"/>
<Relationship Id="rId3" Type="http://schemas.openxmlformats.org/officeDocument/2006/relationships/image" Target="../media/2b9c5077218fb869226a7440e1dfc64b7cd77f9e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5.xml"/>
<Relationship Id="rId3" Type="http://schemas.openxmlformats.org/officeDocument/2006/relationships/image" Target="../media/43776580a75dcdfa4ab65cf74c1181ae48f29bde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6.xml"/>
<Relationship Id="rId3" Type="http://schemas.openxmlformats.org/officeDocument/2006/relationships/image" Target="../media/73f0805ea0dffff9e7ea919b98dd8bbe9949f7fe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7.xml"/>
<Relationship Id="rId3" Type="http://schemas.openxmlformats.org/officeDocument/2006/relationships/image" Target="../media/1085035d346b46e875fbdfc61dd95c9a8d429897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8.xml"/>
<Relationship Id="rId3" Type="http://schemas.openxmlformats.org/officeDocument/2006/relationships/image" Target="../media/ea5285c50d095bbfe4107840716d40e1651ede8a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9.xml"/>
<Relationship Id="rId3" Type="http://schemas.openxmlformats.org/officeDocument/2006/relationships/image" Target="../media/61140be61ae88c13fb6dd94b378527a92b8eae9c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0.xml"/>
<Relationship Id="rId3" Type="http://schemas.openxmlformats.org/officeDocument/2006/relationships/image" Target="../media/26813a5992d30eebec3d1ff250695135e12f53d4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1.xml"/>
<Relationship Id="rId3" Type="http://schemas.openxmlformats.org/officeDocument/2006/relationships/image" Target="../media/6d59b1406135909f418701d3ffe7de830369f760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2.xml"/>
<Relationship Id="rId3" Type="http://schemas.openxmlformats.org/officeDocument/2006/relationships/image" Target="../media/3ba35a840480d1d132c02f6610cc84bc2de26423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3.xml"/>
<Relationship Id="rId3" Type="http://schemas.openxmlformats.org/officeDocument/2006/relationships/image" Target="../media/470b6b7ca29bbdc015d0d9a09f3af4b81b555da2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4.xml"/>
<Relationship Id="rId3" Type="http://schemas.openxmlformats.org/officeDocument/2006/relationships/image" Target="../media/26125a07598864505f589b03dcfc9afaf2e7877f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5.xml"/>
<Relationship Id="rId3" Type="http://schemas.openxmlformats.org/officeDocument/2006/relationships/image" Target="../media/8f69d830fbaf7468fc4260877a45df43efcfafac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6.xml"/>
<Relationship Id="rId3" Type="http://schemas.openxmlformats.org/officeDocument/2006/relationships/image" Target="../media/f6ae7aa2158725f4c1309b2ce1062ed3545c7cf8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7.xml"/>
<Relationship Id="rId3" Type="http://schemas.openxmlformats.org/officeDocument/2006/relationships/image" Target="../media/e0b36684e39672c321234f5e5574911d21bc3188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8.xml"/>
<Relationship Id="rId3" Type="http://schemas.openxmlformats.org/officeDocument/2006/relationships/image" Target="../media/1a05f1cb9db0524e4e5072398f5074a0ee571dd4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notesSlide" Target="../notesSlides/notesSlide19.xml"/>
<Relationship Id="rId3" Type="http://schemas.openxmlformats.org/officeDocument/2006/relationships/image" Target="../media/e85dca3495b42ecf2acdc00dd73cd35264953f89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kauanalvesaragao</cp:lastModifiedBy>
  <cp:revision>3</cp:revision>
  <dcterms:created xsi:type="dcterms:W3CDTF">2017-02-13T16:18:36Z</dcterms:created>
  <dcterms:modified xsi:type="dcterms:W3CDTF">2026-10-27T22:16:31Z</dcterms:modified>
  <cp:category/>
</cp:coreProperties>
</file>